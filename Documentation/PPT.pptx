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SemiBold"/>
      <p:regular r:id="rId201314"/>
    </p:embeddedFont>
    <p:embeddedFont>
      <p:font typeface="Outfit Bold"/>
      <p:regular r:id="rId201315"/>
    </p:embeddedFont>
    <p:embeddedFont>
      <p:font typeface="Inter"/>
      <p:regular r:id="rId201316"/>
    </p:embeddedFont>
    <p:embeddedFont>
      <p:font typeface="Fira Code"/>
      <p:regular r:id="rId201317"/>
    </p:embeddedFont>
    <p:embeddedFont>
      <p:font typeface="Inter Bold"/>
      <p:regular r:id="rId201318"/>
    </p:embeddedFont>
    <p:embeddedFont>
      <p:font typeface="Fira Code Semi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9525">
            <a:solidFill>
              <a:srgbClr val="00E5FF">
                <a:alpha val="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9525">
            <a:solidFill>
              <a:srgbClr val="00E5FF">
                <a:alpha val="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9525">
            <a:solidFill>
              <a:srgbClr val="00E5FF">
                <a:alpha val="6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0E5FF">
                <a:alpha val="6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0E5FF">
                <a:alpha val="6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0E5FF">
                <a:alpha val="6000"/>
              </a:srgbClr>
            </a:solidFill>
            <a:prstDash val="solid"/>
            <a:headEnd type="none"/>
            <a:tailEnd type="none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361950"/>
            <a:ext cx="8324850" cy="46101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19900" y="723900"/>
            <a:ext cx="76200" cy="76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81925" y="1304925"/>
            <a:ext cx="57150" cy="57150"/>
          </a:xfrm>
          <a:prstGeom prst="ellipse">
            <a:avLst/>
          </a:prstGeom>
          <a:solidFill>
            <a:srgbClr val="2979FF"/>
          </a:solidFill>
          <a:ln/>
        </p:spPr>
      </p:sp>
      <p:sp>
        <p:nvSpPr>
          <p:cNvPr id="11" name="Shape 8"/>
          <p:cNvSpPr/>
          <p:nvPr/>
        </p:nvSpPr>
        <p:spPr>
          <a:xfrm>
            <a:off x="8362950" y="838200"/>
            <a:ext cx="38100" cy="38100"/>
          </a:xfrm>
          <a:prstGeom prst="ellipse">
            <a:avLst/>
          </a:prstGeom>
          <a:solidFill>
            <a:srgbClr val="00E5FF">
              <a:alpha val="5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210425" y="1495425"/>
            <a:ext cx="57150" cy="5715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896100" y="800100"/>
            <a:ext cx="876300" cy="495300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 flipV="1">
            <a:off x="7848600" y="885825"/>
            <a:ext cx="495300" cy="419100"/>
          </a:xfrm>
          <a:prstGeom prst="line">
            <a:avLst/>
          </a:prstGeom>
          <a:noFill/>
          <a:ln w="9525">
            <a:solidFill>
              <a:srgbClr val="00E5FF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6886575" y="790575"/>
            <a:ext cx="323850" cy="704850"/>
          </a:xfrm>
          <a:prstGeom prst="line">
            <a:avLst/>
          </a:prstGeom>
          <a:noFill/>
          <a:ln w="9525">
            <a:solidFill>
              <a:srgbClr val="00E5FF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6572250" y="1809750"/>
            <a:ext cx="1714500" cy="1714500"/>
          </a:xfrm>
          <a:prstGeom prst="ellipse">
            <a:avLst/>
          </a:prstGeom>
          <a:noFill/>
          <a:ln w="9525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62750" y="2000250"/>
            <a:ext cx="1333500" cy="1333500"/>
          </a:xfrm>
          <a:prstGeom prst="ellipse">
            <a:avLst/>
          </a:prstGeom>
          <a:noFill/>
          <a:ln w="9525">
            <a:solidFill>
              <a:srgbClr val="2979FF">
                <a:alpha val="10000"/>
              </a:srgbClr>
            </a:solidFill>
            <a:prstDash val="dash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2171700"/>
            <a:ext cx="990600" cy="9906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638925" y="2066925"/>
            <a:ext cx="57150" cy="5715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934200" y="1790700"/>
            <a:ext cx="38100" cy="38100"/>
          </a:xfrm>
          <a:prstGeom prst="ellipse">
            <a:avLst/>
          </a:prstGeom>
          <a:solidFill>
            <a:srgbClr val="2979FF"/>
          </a:solidFill>
          <a:ln/>
        </p:spPr>
      </p:sp>
      <p:sp>
        <p:nvSpPr>
          <p:cNvPr id="21" name="Shape 17"/>
          <p:cNvSpPr/>
          <p:nvPr/>
        </p:nvSpPr>
        <p:spPr>
          <a:xfrm>
            <a:off x="8162925" y="2352675"/>
            <a:ext cx="57150" cy="5715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2" name="Shape 18"/>
          <p:cNvSpPr/>
          <p:nvPr/>
        </p:nvSpPr>
        <p:spPr>
          <a:xfrm>
            <a:off x="7981950" y="3219450"/>
            <a:ext cx="38100" cy="38100"/>
          </a:xfrm>
          <a:prstGeom prst="ellipse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6743700" y="3409950"/>
            <a:ext cx="38100" cy="38100"/>
          </a:xfrm>
          <a:prstGeom prst="ellipse">
            <a:avLst/>
          </a:prstGeom>
          <a:solidFill>
            <a:srgbClr val="2979FF"/>
          </a:solidFill>
          <a:ln/>
        </p:spPr>
      </p:sp>
      <p:sp>
        <p:nvSpPr>
          <p:cNvPr id="24" name="Text 20"/>
          <p:cNvSpPr/>
          <p:nvPr/>
        </p:nvSpPr>
        <p:spPr>
          <a:xfrm>
            <a:off x="571500" y="1400175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COMPUTER VISION + DEEP LEARNING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571500" y="1781175"/>
            <a:ext cx="533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89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AI-Powered Sign Language Translator</a:t>
            </a:r>
            <a:endParaRPr lang="en-US" sz="4289" dirty="0"/>
          </a:p>
        </p:txBody>
      </p:sp>
      <p:sp>
        <p:nvSpPr>
          <p:cNvPr id="26" name="Text 22"/>
          <p:cNvSpPr/>
          <p:nvPr/>
        </p:nvSpPr>
        <p:spPr>
          <a:xfrm>
            <a:off x="571500" y="3400425"/>
            <a:ext cx="457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sign language recognition using computer vision and deep learning.</a:t>
            </a:r>
            <a:endParaRPr lang="en-US" sz="1497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71500" y="4686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29" name="Text 24"/>
          <p:cNvSpPr/>
          <p:nvPr/>
        </p:nvSpPr>
        <p:spPr>
          <a:xfrm>
            <a:off x="723900" y="46291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Python • OpenCV • TensorFlow</a:t>
            </a:r>
            <a:endParaRPr lang="en-US" sz="79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0E5FF">
                <a:alpha val="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952500"/>
            <a:ext cx="9144000" cy="0"/>
          </a:xfrm>
          <a:prstGeom prst="line">
            <a:avLst/>
          </a:prstGeom>
          <a:noFill/>
          <a:ln w="9525">
            <a:solidFill>
              <a:srgbClr val="00E5FF">
                <a:alpha val="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476250" y="419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666750" y="34290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Communication Gap</a:t>
            </a:r>
            <a:endParaRPr lang="en-US" sz="3246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3950"/>
            <a:ext cx="3848100" cy="1943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2950" y="1409700"/>
            <a:ext cx="3276600" cy="698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83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70M+</a:t>
            </a:r>
            <a:endParaRPr lang="en-US" sz="458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194390"/>
            <a:ext cx="609600" cy="643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950" y="2344485"/>
            <a:ext cx="3276600" cy="436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Deaf individuals globally rely on sign language as their primary communication method</a:t>
            </a:r>
            <a:endParaRPr lang="en-US" sz="1241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19450"/>
            <a:ext cx="1866900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6750" y="3467100"/>
            <a:ext cx="1447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98%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666750" y="3962400"/>
            <a:ext cx="144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hearing people don't know sign language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3219450"/>
            <a:ext cx="1866900" cy="1371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47950" y="3467100"/>
            <a:ext cx="1447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$150+</a:t>
            </a:r>
            <a:endParaRPr lang="en-US" sz="2700" dirty="0"/>
          </a:p>
        </p:txBody>
      </p:sp>
      <p:sp>
        <p:nvSpPr>
          <p:cNvPr id="15" name="Text 9"/>
          <p:cNvSpPr/>
          <p:nvPr/>
        </p:nvSpPr>
        <p:spPr>
          <a:xfrm>
            <a:off x="2647950" y="3962400"/>
            <a:ext cx="144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hour for professional interpreters</a:t>
            </a:r>
            <a:endParaRPr lang="en-US" sz="1024" dirty="0"/>
          </a:p>
        </p:txBody>
      </p:sp>
      <p:sp>
        <p:nvSpPr>
          <p:cNvPr id="16" name="Text 10"/>
          <p:cNvSpPr/>
          <p:nvPr/>
        </p:nvSpPr>
        <p:spPr>
          <a:xfrm>
            <a:off x="4762500" y="11430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PROBLEM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1504950"/>
            <a:ext cx="4038600" cy="990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953000" y="1773973"/>
            <a:ext cx="76200" cy="76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9" name="Text 12"/>
          <p:cNvSpPr/>
          <p:nvPr/>
        </p:nvSpPr>
        <p:spPr>
          <a:xfrm>
            <a:off x="5143500" y="1678723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Accessibility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4953000" y="1979341"/>
            <a:ext cx="3619500" cy="30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translation solutions are expensive, slow, or require dedicated human interpreters.</a:t>
            </a:r>
            <a:endParaRPr lang="en-US" sz="832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2647950"/>
            <a:ext cx="4038600" cy="9906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953000" y="2916973"/>
            <a:ext cx="76200" cy="76200"/>
          </a:xfrm>
          <a:prstGeom prst="ellipse">
            <a:avLst/>
          </a:prstGeom>
          <a:solidFill>
            <a:srgbClr val="2979FF"/>
          </a:solidFill>
          <a:ln/>
        </p:spPr>
      </p:sp>
      <p:sp>
        <p:nvSpPr>
          <p:cNvPr id="23" name="Text 15"/>
          <p:cNvSpPr/>
          <p:nvPr/>
        </p:nvSpPr>
        <p:spPr>
          <a:xfrm>
            <a:off x="5143500" y="2821723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Communication Barriers</a:t>
            </a:r>
            <a:endParaRPr lang="en-US" sz="1650" dirty="0"/>
          </a:p>
        </p:txBody>
      </p:sp>
      <p:sp>
        <p:nvSpPr>
          <p:cNvPr id="24" name="Text 16"/>
          <p:cNvSpPr/>
          <p:nvPr/>
        </p:nvSpPr>
        <p:spPr>
          <a:xfrm>
            <a:off x="4953000" y="3122341"/>
            <a:ext cx="3619500" cy="30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interactions in healthcare, education, and public services remain challenging.</a:t>
            </a:r>
            <a:endParaRPr lang="en-US" sz="832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3790950"/>
            <a:ext cx="4038600" cy="990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4953000" y="4059973"/>
            <a:ext cx="76200" cy="76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7" name="Text 18"/>
          <p:cNvSpPr/>
          <p:nvPr/>
        </p:nvSpPr>
        <p:spPr>
          <a:xfrm>
            <a:off x="5143500" y="3964723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Gap</a:t>
            </a:r>
            <a:endParaRPr lang="en-US" sz="1650" dirty="0"/>
          </a:p>
        </p:txBody>
      </p:sp>
      <p:sp>
        <p:nvSpPr>
          <p:cNvPr id="28" name="Text 19"/>
          <p:cNvSpPr/>
          <p:nvPr/>
        </p:nvSpPr>
        <p:spPr>
          <a:xfrm>
            <a:off x="4953000" y="4265341"/>
            <a:ext cx="3619500" cy="30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ASL apps lack real-time capabilities and accuracy for practical use.</a:t>
            </a:r>
            <a:endParaRPr lang="en-US" sz="837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19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34290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AI Solution</a:t>
            </a:r>
            <a:endParaRPr lang="en-US" sz="3246" dirty="0"/>
          </a:p>
        </p:txBody>
      </p:sp>
      <p:sp>
        <p:nvSpPr>
          <p:cNvPr id="4" name="Text 2"/>
          <p:cNvSpPr/>
          <p:nvPr/>
        </p:nvSpPr>
        <p:spPr>
          <a:xfrm>
            <a:off x="666750" y="9525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real-time, lightweight system using standard consumer webcams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9700"/>
            <a:ext cx="2616200" cy="3276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2950" y="16954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2305050"/>
            <a:ext cx="2044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CAPTURE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2950" y="2628900"/>
            <a:ext cx="204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Hand Detection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2950" y="3086100"/>
            <a:ext cx="20447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CVZone HandDetector tracks hand position in real-time from webcam input with precise bounding box detection.</a:t>
            </a:r>
            <a:endParaRPr lang="en-US" sz="1163" dirty="0"/>
          </a:p>
        </p:txBody>
      </p:sp>
      <p:sp>
        <p:nvSpPr>
          <p:cNvPr id="10" name="Shape 7"/>
          <p:cNvSpPr/>
          <p:nvPr/>
        </p:nvSpPr>
        <p:spPr>
          <a:xfrm>
            <a:off x="742950" y="4229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11" name="Text 8"/>
          <p:cNvSpPr/>
          <p:nvPr/>
        </p:nvSpPr>
        <p:spPr>
          <a:xfrm>
            <a:off x="895350" y="4181475"/>
            <a:ext cx="1892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OpenCV + CVZone</a:t>
            </a:r>
            <a:endParaRPr lang="en-US" sz="975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1409700"/>
            <a:ext cx="2616200" cy="3276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9650" y="16954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49650" y="2305050"/>
            <a:ext cx="2044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PROCESS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49650" y="2628900"/>
            <a:ext cx="204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Image Normalization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549650" y="3086100"/>
            <a:ext cx="20447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cropping, aspect-ratio correction, and padding onto a standardized 300x300 canvas.</a:t>
            </a:r>
            <a:endParaRPr lang="en-US" sz="1163" dirty="0"/>
          </a:p>
        </p:txBody>
      </p:sp>
      <p:sp>
        <p:nvSpPr>
          <p:cNvPr id="17" name="Shape 13"/>
          <p:cNvSpPr/>
          <p:nvPr/>
        </p:nvSpPr>
        <p:spPr>
          <a:xfrm>
            <a:off x="3549650" y="4229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979FF"/>
          </a:solidFill>
          <a:ln/>
        </p:spPr>
      </p:sp>
      <p:sp>
        <p:nvSpPr>
          <p:cNvPr id="18" name="Text 14"/>
          <p:cNvSpPr/>
          <p:nvPr/>
        </p:nvSpPr>
        <p:spPr>
          <a:xfrm>
            <a:off x="3702050" y="4181475"/>
            <a:ext cx="1892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NumPy + CV2</a:t>
            </a:r>
            <a:endParaRPr lang="en-US" sz="975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0" y="1409700"/>
            <a:ext cx="2616200" cy="3276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6350" y="16954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356350" y="2305050"/>
            <a:ext cx="2044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CLASSIFY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356350" y="2628900"/>
            <a:ext cx="204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Gesture Recognition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6356350" y="3086100"/>
            <a:ext cx="20447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Pre-trained Keras deep learning model predicts gesture class and displays decoded text overlay.</a:t>
            </a:r>
            <a:endParaRPr lang="en-US" sz="1163" dirty="0"/>
          </a:p>
        </p:txBody>
      </p:sp>
      <p:sp>
        <p:nvSpPr>
          <p:cNvPr id="24" name="Shape 19"/>
          <p:cNvSpPr/>
          <p:nvPr/>
        </p:nvSpPr>
        <p:spPr>
          <a:xfrm>
            <a:off x="6356350" y="4229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25" name="Text 20"/>
          <p:cNvSpPr/>
          <p:nvPr/>
        </p:nvSpPr>
        <p:spPr>
          <a:xfrm>
            <a:off x="6508750" y="4181475"/>
            <a:ext cx="1892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TensorFlow + Keras</a:t>
            </a:r>
            <a:endParaRPr lang="en-US" sz="975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19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34290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Data Flow</a:t>
            </a:r>
            <a:endParaRPr lang="en-US" sz="324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314450"/>
            <a:ext cx="1348740" cy="2705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2970" y="1524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" y="1905000"/>
            <a:ext cx="571500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92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INPUT</a:t>
            </a:r>
            <a:endParaRPr lang="en-US" sz="1235" dirty="0"/>
          </a:p>
        </p:txBody>
      </p:sp>
      <p:sp>
        <p:nvSpPr>
          <p:cNvPr id="8" name="Text 4"/>
          <p:cNvSpPr/>
          <p:nvPr/>
        </p:nvSpPr>
        <p:spPr>
          <a:xfrm>
            <a:off x="571500" y="2952750"/>
            <a:ext cx="9296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Webcam captures live video frames at 30 FPS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790" y="1314450"/>
            <a:ext cx="1348740" cy="2705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70810" y="1524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410" y="1905000"/>
            <a:ext cx="571500" cy="571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339340" y="2590800"/>
            <a:ext cx="92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4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DETECTION</a:t>
            </a:r>
            <a:endParaRPr lang="en-US" sz="1254" dirty="0"/>
          </a:p>
        </p:txBody>
      </p:sp>
      <p:sp>
        <p:nvSpPr>
          <p:cNvPr id="13" name="Text 7"/>
          <p:cNvSpPr/>
          <p:nvPr/>
        </p:nvSpPr>
        <p:spPr>
          <a:xfrm>
            <a:off x="2339340" y="2952750"/>
            <a:ext cx="9296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HandDetector creates bounding boxes around detected hands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630" y="1314450"/>
            <a:ext cx="1348740" cy="27051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38650" y="1524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1905000"/>
            <a:ext cx="571500" cy="5715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107180" y="2590800"/>
            <a:ext cx="92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NORMALIZE</a:t>
            </a:r>
            <a:endParaRPr lang="en-US" sz="1235" dirty="0"/>
          </a:p>
        </p:txBody>
      </p:sp>
      <p:sp>
        <p:nvSpPr>
          <p:cNvPr id="18" name="Text 10"/>
          <p:cNvSpPr/>
          <p:nvPr/>
        </p:nvSpPr>
        <p:spPr>
          <a:xfrm>
            <a:off x="4107180" y="2952750"/>
            <a:ext cx="9296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resized and padded to 300x300 canvas</a:t>
            </a:r>
            <a:endParaRPr lang="en-US" sz="10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5470" y="1314450"/>
            <a:ext cx="1348740" cy="27051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206490" y="1524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0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4090" y="1905000"/>
            <a:ext cx="571500" cy="5715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875020" y="2590800"/>
            <a:ext cx="92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INFERENCE</a:t>
            </a:r>
            <a:endParaRPr lang="en-US" sz="1235" dirty="0"/>
          </a:p>
        </p:txBody>
      </p:sp>
      <p:sp>
        <p:nvSpPr>
          <p:cNvPr id="23" name="Text 13"/>
          <p:cNvSpPr/>
          <p:nvPr/>
        </p:nvSpPr>
        <p:spPr>
          <a:xfrm>
            <a:off x="5875020" y="2952750"/>
            <a:ext cx="9296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Keras model predicts gesture class</a:t>
            </a:r>
            <a:endParaRPr lang="en-US" sz="10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3310" y="1314450"/>
            <a:ext cx="1348740" cy="27051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974330" y="1524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</a:t>
            </a:r>
            <a:endParaRPr lang="en-US" sz="10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1930" y="1905000"/>
            <a:ext cx="571500" cy="5715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642860" y="2590800"/>
            <a:ext cx="92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OUTPUT</a:t>
            </a:r>
            <a:endParaRPr lang="en-US" sz="1235" dirty="0"/>
          </a:p>
        </p:txBody>
      </p:sp>
      <p:sp>
        <p:nvSpPr>
          <p:cNvPr id="28" name="Text 16"/>
          <p:cNvSpPr/>
          <p:nvPr/>
        </p:nvSpPr>
        <p:spPr>
          <a:xfrm>
            <a:off x="7642860" y="2952750"/>
            <a:ext cx="9296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Decoded text displayed on screen overlay</a:t>
            </a:r>
            <a:endParaRPr lang="en-US" sz="1000" dirty="0"/>
          </a:p>
        </p:txBody>
      </p:sp>
      <p:sp>
        <p:nvSpPr>
          <p:cNvPr id="29" name="Text 17"/>
          <p:cNvSpPr/>
          <p:nvPr/>
        </p:nvSpPr>
        <p:spPr>
          <a:xfrm>
            <a:off x="2452688" y="4638675"/>
            <a:ext cx="419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OpenCV</a:t>
            </a:r>
            <a:endParaRPr lang="en-US" sz="900" dirty="0"/>
          </a:p>
        </p:txBody>
      </p:sp>
      <p:sp>
        <p:nvSpPr>
          <p:cNvPr id="30" name="Shape 18"/>
          <p:cNvSpPr/>
          <p:nvPr/>
        </p:nvSpPr>
        <p:spPr>
          <a:xfrm>
            <a:off x="3100388" y="47053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00E5FF">
              <a:alpha val="40000"/>
            </a:srgbClr>
          </a:solidFill>
          <a:ln/>
        </p:spPr>
      </p:sp>
      <p:sp>
        <p:nvSpPr>
          <p:cNvPr id="31" name="Text 19"/>
          <p:cNvSpPr/>
          <p:nvPr/>
        </p:nvSpPr>
        <p:spPr>
          <a:xfrm>
            <a:off x="3367088" y="4638675"/>
            <a:ext cx="419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CVZone</a:t>
            </a:r>
            <a:endParaRPr lang="en-US" sz="900" dirty="0"/>
          </a:p>
        </p:txBody>
      </p:sp>
      <p:sp>
        <p:nvSpPr>
          <p:cNvPr id="32" name="Shape 20"/>
          <p:cNvSpPr/>
          <p:nvPr/>
        </p:nvSpPr>
        <p:spPr>
          <a:xfrm>
            <a:off x="4014788" y="47053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00E5FF">
              <a:alpha val="40000"/>
            </a:srgbClr>
          </a:solidFill>
          <a:ln/>
        </p:spPr>
      </p:sp>
      <p:sp>
        <p:nvSpPr>
          <p:cNvPr id="33" name="Text 21"/>
          <p:cNvSpPr/>
          <p:nvPr/>
        </p:nvSpPr>
        <p:spPr>
          <a:xfrm>
            <a:off x="4281488" y="46386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NumPy</a:t>
            </a:r>
            <a:endParaRPr lang="en-US" sz="900" dirty="0"/>
          </a:p>
        </p:txBody>
      </p:sp>
      <p:sp>
        <p:nvSpPr>
          <p:cNvPr id="34" name="Shape 22"/>
          <p:cNvSpPr/>
          <p:nvPr/>
        </p:nvSpPr>
        <p:spPr>
          <a:xfrm>
            <a:off x="4891088" y="47053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00E5FF">
              <a:alpha val="40000"/>
            </a:srgbClr>
          </a:solidFill>
          <a:ln/>
        </p:spPr>
      </p:sp>
      <p:sp>
        <p:nvSpPr>
          <p:cNvPr id="35" name="Text 23"/>
          <p:cNvSpPr/>
          <p:nvPr/>
        </p:nvSpPr>
        <p:spPr>
          <a:xfrm>
            <a:off x="5157788" y="4638675"/>
            <a:ext cx="695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7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TensorFlow</a:t>
            </a:r>
            <a:endParaRPr lang="en-US" sz="897" dirty="0"/>
          </a:p>
        </p:txBody>
      </p:sp>
      <p:sp>
        <p:nvSpPr>
          <p:cNvPr id="36" name="Shape 24"/>
          <p:cNvSpPr/>
          <p:nvPr/>
        </p:nvSpPr>
        <p:spPr>
          <a:xfrm>
            <a:off x="6081713" y="47053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00E5FF">
              <a:alpha val="40000"/>
            </a:srgbClr>
          </a:solidFill>
          <a:ln/>
        </p:spPr>
      </p:sp>
      <p:sp>
        <p:nvSpPr>
          <p:cNvPr id="37" name="Text 25"/>
          <p:cNvSpPr/>
          <p:nvPr/>
        </p:nvSpPr>
        <p:spPr>
          <a:xfrm>
            <a:off x="6348413" y="463867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Keras</a:t>
            </a:r>
            <a:endParaRPr lang="en-US" sz="884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19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34290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Collection &amp; Preparation</a:t>
            </a:r>
            <a:endParaRPr lang="en-US" sz="324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8700"/>
            <a:ext cx="4038600" cy="1752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6750" y="12858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E5FF"/>
          </a:solidFill>
          <a:ln/>
        </p:spPr>
      </p:sp>
      <p:sp>
        <p:nvSpPr>
          <p:cNvPr id="6" name="Text 3"/>
          <p:cNvSpPr/>
          <p:nvPr/>
        </p:nvSpPr>
        <p:spPr>
          <a:xfrm>
            <a:off x="838200" y="1247775"/>
            <a:ext cx="3448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00E5FF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datacollection.py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66750" y="1543050"/>
            <a:ext cx="3619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Self-curated custom dataset of hand gesture images captured directly via webcam using OpenCV video stream.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33700"/>
            <a:ext cx="4038600" cy="1752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6750" y="3143250"/>
            <a:ext cx="3619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8" spc="75" kern="0" dirty="0">
                <a:solidFill>
                  <a:srgbClr val="2979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PREPROCESSING STEPS</a:t>
            </a:r>
            <a:endParaRPr lang="en-US" sz="938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3387725"/>
            <a:ext cx="304800" cy="304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6750" y="34067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047750" y="342582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hand region in frame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784600"/>
            <a:ext cx="304800" cy="304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6750" y="38036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047750" y="38227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with aspect-ratio correction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4181475"/>
            <a:ext cx="304800" cy="304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6750" y="420052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047750" y="421957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 to uniform 300x300 canvas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762500" y="104775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DYNAMIC IMAGE NORMALIZATION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4691063" y="1485900"/>
            <a:ext cx="1143000" cy="1333500"/>
          </a:xfrm>
          <a:prstGeom prst="roundRect">
            <a:avLst>
              <a:gd name="adj" fmla="val 3333"/>
            </a:avLst>
          </a:prstGeom>
          <a:noFill/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762500" y="2895600"/>
            <a:ext cx="100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Frame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5905500" y="220027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4" dirty="0"/>
          </a:p>
        </p:txBody>
      </p:sp>
      <p:sp>
        <p:nvSpPr>
          <p:cNvPr id="23" name="Shape 16"/>
          <p:cNvSpPr/>
          <p:nvPr/>
        </p:nvSpPr>
        <p:spPr>
          <a:xfrm>
            <a:off x="6286500" y="1485900"/>
            <a:ext cx="952500" cy="13335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2979FF"/>
            </a:solidFill>
            <a:prstDash val="dash"/>
          </a:ln>
        </p:spPr>
      </p:sp>
      <p:sp>
        <p:nvSpPr>
          <p:cNvPr id="24" name="Text 17"/>
          <p:cNvSpPr/>
          <p:nvPr/>
        </p:nvSpPr>
        <p:spPr>
          <a:xfrm>
            <a:off x="6262688" y="2895600"/>
            <a:ext cx="100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Detected Crop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405688" y="220027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4" dirty="0"/>
          </a:p>
        </p:txBody>
      </p:sp>
      <p:sp>
        <p:nvSpPr>
          <p:cNvPr id="26" name="Shape 19"/>
          <p:cNvSpPr/>
          <p:nvPr/>
        </p:nvSpPr>
        <p:spPr>
          <a:xfrm>
            <a:off x="7691438" y="1485900"/>
            <a:ext cx="1143000" cy="1143000"/>
          </a:xfrm>
          <a:prstGeom prst="roundRect">
            <a:avLst>
              <a:gd name="adj" fmla="val 3333"/>
            </a:avLst>
          </a:prstGeom>
          <a:solidFill>
            <a:srgbClr val="00E5FF">
              <a:alpha val="8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762875" y="2705100"/>
            <a:ext cx="100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300x300 Output</a:t>
            </a:r>
            <a:endParaRPr lang="en-US" sz="9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429000"/>
            <a:ext cx="4038600" cy="12763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14900" y="3600450"/>
            <a:ext cx="3695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ASPECT RATIO CALCULATION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4914900" y="3867150"/>
            <a:ext cx="3695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9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aspectRatio = h / w</a:t>
            </a:r>
            <a:endParaRPr lang="en-US" sz="819" dirty="0"/>
          </a:p>
          <a:p>
            <a:pPr algn="l" indent="0" marL="0">
              <a:buNone/>
            </a:pPr>
            <a:r>
              <a:rPr lang="en-US" sz="819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 aspectRatio &gt; 1:</a:t>
            </a:r>
            <a:endParaRPr lang="en-US" sz="819" dirty="0"/>
          </a:p>
          <a:p>
            <a:pPr algn="l" indent="0" marL="0">
              <a:buNone/>
            </a:pPr>
            <a:r>
              <a:rPr lang="en-US" sz="819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k = imgSize / h</a:t>
            </a:r>
            <a:endParaRPr lang="en-US" sz="819" dirty="0"/>
          </a:p>
          <a:p>
            <a:pPr algn="l" indent="0" marL="0">
              <a:buNone/>
            </a:pPr>
            <a:r>
              <a:rPr lang="en-US" sz="819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wCal = math.ceil(k * w)</a:t>
            </a:r>
            <a:endParaRPr lang="en-US" sz="819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19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34290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Deep Learning Model</a:t>
            </a:r>
            <a:endParaRPr lang="en-US" sz="324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8700"/>
            <a:ext cx="2641600" cy="1085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1200150"/>
            <a:ext cx="2298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&lt;35ms</a:t>
            </a:r>
            <a:endParaRPr lang="en-US" sz="3246" dirty="0"/>
          </a:p>
        </p:txBody>
      </p:sp>
      <p:sp>
        <p:nvSpPr>
          <p:cNvPr id="6" name="Text 3"/>
          <p:cNvSpPr/>
          <p:nvPr/>
        </p:nvSpPr>
        <p:spPr>
          <a:xfrm>
            <a:off x="628650" y="1752600"/>
            <a:ext cx="229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latency per frame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0" y="1028700"/>
            <a:ext cx="2641600" cy="10858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2650" y="1200150"/>
            <a:ext cx="2298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30 FPS</a:t>
            </a:r>
            <a:endParaRPr lang="en-US" sz="3246" dirty="0"/>
          </a:p>
        </p:txBody>
      </p:sp>
      <p:sp>
        <p:nvSpPr>
          <p:cNvPr id="9" name="Text 5"/>
          <p:cNvSpPr/>
          <p:nvPr/>
        </p:nvSpPr>
        <p:spPr>
          <a:xfrm>
            <a:off x="3422650" y="1752600"/>
            <a:ext cx="229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processing speed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00" y="1028700"/>
            <a:ext cx="2641600" cy="10858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6650" y="1200150"/>
            <a:ext cx="2298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3246" dirty="0"/>
          </a:p>
        </p:txBody>
      </p:sp>
      <p:sp>
        <p:nvSpPr>
          <p:cNvPr id="12" name="Text 7"/>
          <p:cNvSpPr/>
          <p:nvPr/>
        </p:nvSpPr>
        <p:spPr>
          <a:xfrm>
            <a:off x="6216650" y="1752600"/>
            <a:ext cx="229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classes trained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66950"/>
            <a:ext cx="4019550" cy="2514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04850" y="2609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15" name="Text 9"/>
          <p:cNvSpPr/>
          <p:nvPr/>
        </p:nvSpPr>
        <p:spPr>
          <a:xfrm>
            <a:off x="895350" y="251460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Model Architecture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04850" y="29908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733550" y="299085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TensorFlow + Keras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04850" y="34099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File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733550" y="340995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keras_model.h5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04850" y="38290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Size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733550" y="382905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300 x 300 px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04850" y="42481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733550" y="424815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Softmax probabilities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2266950"/>
            <a:ext cx="4019550" cy="25146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914900" y="2609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979FF"/>
          </a:solidFill>
          <a:ln/>
        </p:spPr>
      </p:sp>
      <p:sp>
        <p:nvSpPr>
          <p:cNvPr id="26" name="Text 19"/>
          <p:cNvSpPr/>
          <p:nvPr/>
        </p:nvSpPr>
        <p:spPr>
          <a:xfrm>
            <a:off x="5105400" y="251460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Trained Gesture Classes</a:t>
            </a:r>
            <a:endParaRPr lang="en-US" sz="15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850" y="2914650"/>
            <a:ext cx="1743075" cy="7810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29200" y="3048000"/>
            <a:ext cx="1476375" cy="33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Hello</a:t>
            </a:r>
            <a:endParaRPr lang="en-US" sz="2100" dirty="0"/>
          </a:p>
        </p:txBody>
      </p:sp>
      <p:sp>
        <p:nvSpPr>
          <p:cNvPr id="29" name="Text 21"/>
          <p:cNvSpPr/>
          <p:nvPr/>
        </p:nvSpPr>
        <p:spPr>
          <a:xfrm>
            <a:off x="5029200" y="3415393"/>
            <a:ext cx="1476375" cy="14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 gesture</a:t>
            </a:r>
            <a:endParaRPr lang="en-US" sz="9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5850" y="3771900"/>
            <a:ext cx="1743075" cy="7810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029200" y="3905250"/>
            <a:ext cx="1476375" cy="33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32" name="Text 23"/>
          <p:cNvSpPr/>
          <p:nvPr/>
        </p:nvSpPr>
        <p:spPr>
          <a:xfrm>
            <a:off x="5029200" y="4272643"/>
            <a:ext cx="1476375" cy="14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Gratitude sign</a:t>
            </a:r>
            <a:endParaRPr lang="en-US" sz="9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2914650"/>
            <a:ext cx="1743075" cy="7810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48475" y="3048000"/>
            <a:ext cx="1476375" cy="33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 Love You</a:t>
            </a:r>
            <a:endParaRPr lang="en-US" sz="2100" dirty="0"/>
          </a:p>
        </p:txBody>
      </p:sp>
      <p:sp>
        <p:nvSpPr>
          <p:cNvPr id="35" name="Text 25"/>
          <p:cNvSpPr/>
          <p:nvPr/>
        </p:nvSpPr>
        <p:spPr>
          <a:xfrm>
            <a:off x="6848475" y="3415393"/>
            <a:ext cx="1476375" cy="14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ILY handshape</a:t>
            </a:r>
            <a:endParaRPr lang="en-US" sz="9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5125" y="3771900"/>
            <a:ext cx="1743075" cy="7810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848475" y="3905250"/>
            <a:ext cx="1476375" cy="33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</a:t>
            </a:r>
            <a:endParaRPr lang="en-US" sz="2100" dirty="0"/>
          </a:p>
        </p:txBody>
      </p:sp>
      <p:sp>
        <p:nvSpPr>
          <p:cNvPr id="38" name="Text 27"/>
          <p:cNvSpPr/>
          <p:nvPr/>
        </p:nvSpPr>
        <p:spPr>
          <a:xfrm>
            <a:off x="6848475" y="4272643"/>
            <a:ext cx="1476375" cy="14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 A sign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19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34290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Real-Time Testing</a:t>
            </a:r>
            <a:endParaRPr lang="en-US" sz="3246" dirty="0"/>
          </a:p>
        </p:txBody>
      </p:sp>
      <p:sp>
        <p:nvSpPr>
          <p:cNvPr id="4" name="Shape 2"/>
          <p:cNvSpPr/>
          <p:nvPr/>
        </p:nvSpPr>
        <p:spPr>
          <a:xfrm>
            <a:off x="476250" y="10763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628650" y="1028700"/>
            <a:ext cx="441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00E5FF"/>
                </a:solidFill>
                <a:latin typeface="Fira Code SemiBold" pitchFamily="34" charset="0"/>
                <a:ea typeface="Fira Code SemiBold" pitchFamily="34" charset="-122"/>
                <a:cs typeface="Fira Code SemiBold" pitchFamily="34" charset="-120"/>
              </a:rPr>
              <a:t>test.py OUTPUT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476250" y="1343025"/>
            <a:ext cx="4572000" cy="3238500"/>
          </a:xfrm>
          <a:prstGeom prst="roundRect">
            <a:avLst>
              <a:gd name="adj" fmla="val 3529"/>
            </a:avLst>
          </a:prstGeom>
          <a:solidFill>
            <a:srgbClr val="0A0D14"/>
          </a:solidFill>
          <a:ln w="1905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09750" y="2105025"/>
            <a:ext cx="1905000" cy="190500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9750" y="2105025"/>
            <a:ext cx="19050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Shape 7"/>
          <p:cNvSpPr/>
          <p:nvPr/>
        </p:nvSpPr>
        <p:spPr>
          <a:xfrm>
            <a:off x="1809750" y="2105025"/>
            <a:ext cx="28575" cy="190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24250" y="2105025"/>
            <a:ext cx="19050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Shape 9"/>
          <p:cNvSpPr/>
          <p:nvPr/>
        </p:nvSpPr>
        <p:spPr>
          <a:xfrm>
            <a:off x="3686175" y="2105025"/>
            <a:ext cx="28575" cy="190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809750" y="3981450"/>
            <a:ext cx="19050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809750" y="3819525"/>
            <a:ext cx="28575" cy="190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4250" y="3981450"/>
            <a:ext cx="19050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686175" y="3819525"/>
            <a:ext cx="28575" cy="190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809750" y="1800225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00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1809750" y="180022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0F19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Hello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8650" y="4295775"/>
            <a:ext cx="76200" cy="76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257675"/>
            <a:ext cx="247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9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LIVE</a:t>
            </a:r>
            <a:endParaRPr lang="en-US" sz="799" dirty="0"/>
          </a:p>
        </p:txBody>
      </p:sp>
      <p:sp>
        <p:nvSpPr>
          <p:cNvPr id="20" name="Text 18"/>
          <p:cNvSpPr/>
          <p:nvPr/>
        </p:nvSpPr>
        <p:spPr>
          <a:xfrm>
            <a:off x="1162050" y="4257675"/>
            <a:ext cx="3733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30 FPS | Latency: 28ms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14950" y="1000125"/>
            <a:ext cx="3352800" cy="17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2979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CAPABILITIES</a:t>
            </a:r>
            <a:endParaRPr lang="en-US" sz="10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5900" y="1289994"/>
            <a:ext cx="3390900" cy="810397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467350" y="1547169"/>
            <a:ext cx="57150" cy="5715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4" name="Text 21"/>
          <p:cNvSpPr/>
          <p:nvPr/>
        </p:nvSpPr>
        <p:spPr>
          <a:xfrm>
            <a:off x="5619750" y="1461444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Live Video Integration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467350" y="1766244"/>
            <a:ext cx="3048000" cy="16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module integrated into live webcam video stream for continuous processing.</a:t>
            </a:r>
            <a:endParaRPr lang="en-US" sz="6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900" y="2199589"/>
            <a:ext cx="3390900" cy="81039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467350" y="2456764"/>
            <a:ext cx="57150" cy="57150"/>
          </a:xfrm>
          <a:prstGeom prst="ellipse">
            <a:avLst/>
          </a:prstGeom>
          <a:solidFill>
            <a:srgbClr val="2979FF"/>
          </a:solidFill>
          <a:ln/>
        </p:spPr>
      </p:sp>
      <p:sp>
        <p:nvSpPr>
          <p:cNvPr id="28" name="Text 24"/>
          <p:cNvSpPr/>
          <p:nvPr/>
        </p:nvSpPr>
        <p:spPr>
          <a:xfrm>
            <a:off x="5619750" y="2371039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 Bounding Boxes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467350" y="2675839"/>
            <a:ext cx="3048000" cy="16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Green/cyan bounding boxes dynamically drawn around recognized hand regions.</a:t>
            </a:r>
            <a:endParaRPr lang="en-US" sz="6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3109183"/>
            <a:ext cx="3390900" cy="810397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467350" y="3366358"/>
            <a:ext cx="57150" cy="5715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32" name="Text 27"/>
          <p:cNvSpPr/>
          <p:nvPr/>
        </p:nvSpPr>
        <p:spPr>
          <a:xfrm>
            <a:off x="5619750" y="3280633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Text Label Overlay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5467350" y="3585433"/>
            <a:ext cx="3048000" cy="16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gesture text rendered above hand coordinates in real-time.</a:t>
            </a:r>
            <a:endParaRPr lang="en-US" sz="6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4018778"/>
            <a:ext cx="3390900" cy="810397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5467350" y="4275953"/>
            <a:ext cx="57150" cy="57150"/>
          </a:xfrm>
          <a:prstGeom prst="ellipse">
            <a:avLst/>
          </a:prstGeom>
          <a:solidFill>
            <a:srgbClr val="2979FF"/>
          </a:solidFill>
          <a:ln/>
        </p:spPr>
      </p:sp>
      <p:sp>
        <p:nvSpPr>
          <p:cNvPr id="36" name="Text 30"/>
          <p:cNvSpPr/>
          <p:nvPr/>
        </p:nvSpPr>
        <p:spPr>
          <a:xfrm>
            <a:off x="5619750" y="4190228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Performance Metrics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5467350" y="4495028"/>
            <a:ext cx="3048000" cy="16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FPS counter and latency display for monitoring system performance.</a:t>
            </a:r>
            <a:endParaRPr lang="en-US" sz="6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19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34290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4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Technical Challenges &amp; Solutions</a:t>
            </a:r>
            <a:endParaRPr lang="en-US" sz="3244" dirty="0"/>
          </a:p>
        </p:txBody>
      </p:sp>
      <p:sp>
        <p:nvSpPr>
          <p:cNvPr id="4" name="Shape 2"/>
          <p:cNvSpPr/>
          <p:nvPr/>
        </p:nvSpPr>
        <p:spPr>
          <a:xfrm>
            <a:off x="476250" y="10477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66750" y="10096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FF6B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7250" y="10477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4857750" y="10096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075"/>
            <a:ext cx="4038600" cy="10382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7700" y="155257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6B6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Hand Size Variance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7700" y="1857375"/>
            <a:ext cx="3657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appear at different sizes and distances from the camera, creating inconsistent input dimensions.</a:t>
            </a:r>
            <a:endParaRPr lang="en-US" sz="989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62075"/>
            <a:ext cx="4038600" cy="10382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38700" y="155257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Scaled Crops + Uniform Borders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38700" y="1857375"/>
            <a:ext cx="3657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aspect-ratio calculation with consistent offset borders normalizes all inputs to 300x300.</a:t>
            </a:r>
            <a:endParaRPr lang="en-US" sz="989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4038600" cy="10382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7700" y="27051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6B6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Background Noise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7700" y="3009900"/>
            <a:ext cx="3657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backgrounds and varying lighting conditions interfere with accurate hand detection.</a:t>
            </a:r>
            <a:endParaRPr lang="en-US" sz="989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514600"/>
            <a:ext cx="4038600" cy="10382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38700" y="27051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Isolated White Background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838700" y="3009900"/>
            <a:ext cx="3657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region extracted and placed onto a standardized solid white canvas, eliminating background interference.</a:t>
            </a:r>
            <a:endParaRPr lang="en-US" sz="973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67125"/>
            <a:ext cx="4038600" cy="10382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7700" y="385762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6B6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Processing Latency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47700" y="4162425"/>
            <a:ext cx="3657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video requires low-latency inference to maintain smooth user experience at 30 FPS.</a:t>
            </a:r>
            <a:endParaRPr lang="en-US" sz="989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3667125"/>
            <a:ext cx="4038600" cy="10382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38700" y="385762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Optimized Classification Pipeline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4838700" y="4162425"/>
            <a:ext cx="3657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pre-trained Keras model with lightweight preprocessing achieves sub-35ms inference time.</a:t>
            </a:r>
            <a:endParaRPr lang="en-US" sz="989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19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342900"/>
            <a:ext cx="800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6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Future Scope &amp; Roadmap</a:t>
            </a:r>
            <a:endParaRPr lang="en-US" sz="324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33575"/>
            <a:ext cx="8229600" cy="666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28750" y="1866900"/>
            <a:ext cx="190500" cy="190500"/>
          </a:xfrm>
          <a:prstGeom prst="ellipse">
            <a:avLst/>
          </a:prstGeom>
          <a:solidFill>
            <a:srgbClr val="0B0F19"/>
          </a:solidFill>
          <a:ln w="28575">
            <a:solidFill>
              <a:srgbClr val="00E5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00500" y="1866900"/>
            <a:ext cx="190500" cy="190500"/>
          </a:xfrm>
          <a:prstGeom prst="ellipse">
            <a:avLst/>
          </a:prstGeom>
          <a:solidFill>
            <a:srgbClr val="0B0F19"/>
          </a:solidFill>
          <a:ln w="28575">
            <a:solidFill>
              <a:srgbClr val="2979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72250" y="1866900"/>
            <a:ext cx="190500" cy="190500"/>
          </a:xfrm>
          <a:prstGeom prst="ellipse">
            <a:avLst/>
          </a:prstGeom>
          <a:solidFill>
            <a:srgbClr val="0B0F19"/>
          </a:solidFill>
          <a:ln w="28575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01050" y="1885950"/>
            <a:ext cx="152400" cy="1524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04775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12763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Expand Vocabulary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1500" y="16002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fingerspelling alphabets (A-Z) and numbers (0-9)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143250" y="219075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143250" y="24193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NLP Integration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143250" y="2743200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gesture labels to Natural Language Processing to build complete sentences from signs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715000" y="104775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0" y="12763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Mobile + 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15000" y="16002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to iOS/Android apps and AR glasses for real-world use</a:t>
            </a:r>
            <a:endParaRPr lang="en-US" sz="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09950"/>
            <a:ext cx="2641600" cy="1371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7700" y="36004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36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047750" y="3638550"/>
            <a:ext cx="186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Total Gesture Classes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47700" y="4000500"/>
            <a:ext cx="2260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letters + 10 numbers + custom phrases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0" y="3409950"/>
            <a:ext cx="2641600" cy="1371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441700" y="36004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79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841750" y="3638550"/>
            <a:ext cx="186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Sentence Generation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3441700" y="4000500"/>
            <a:ext cx="2260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NLP for fluid communication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00" y="3409950"/>
            <a:ext cx="2641600" cy="1371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35700" y="36004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635750" y="3638550"/>
            <a:ext cx="186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Wearable Integration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235700" y="4000500"/>
            <a:ext cx="2260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glasses for seamless real-world translation</a:t>
            </a:r>
            <a:endParaRPr lang="en-US" sz="10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3395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9525">
            <a:solidFill>
              <a:srgbClr val="00E5FF">
                <a:alpha val="4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9525">
            <a:solidFill>
              <a:srgbClr val="00E5FF">
                <a:alpha val="4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9525">
            <a:solidFill>
              <a:srgbClr val="00E5FF">
                <a:alpha val="4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0E5FF">
                <a:alpha val="4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0E5FF">
                <a:alpha val="4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0E5FF">
                <a:alpha val="4000"/>
              </a:srgbClr>
            </a:solidFill>
            <a:prstDash val="solid"/>
            <a:headEnd type="none"/>
            <a:tailEnd type="none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0"/>
            <a:ext cx="8420100" cy="49720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8250" y="762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 &amp; Impact</a:t>
            </a:r>
            <a:endParaRPr lang="en-US" sz="4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95450"/>
            <a:ext cx="6705600" cy="86244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66850" y="2231448"/>
            <a:ext cx="95250" cy="9525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Text 8"/>
          <p:cNvSpPr/>
          <p:nvPr/>
        </p:nvSpPr>
        <p:spPr>
          <a:xfrm>
            <a:off x="1714500" y="2145723"/>
            <a:ext cx="596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Bridges the communication gap between sign language users and non-users</a:t>
            </a:r>
            <a:endParaRPr lang="en-US" sz="1356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692977"/>
            <a:ext cx="6705600" cy="55764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466850" y="2924175"/>
            <a:ext cx="95250" cy="95250"/>
          </a:xfrm>
          <a:prstGeom prst="ellipse">
            <a:avLst/>
          </a:prstGeom>
          <a:solidFill>
            <a:srgbClr val="2979FF"/>
          </a:solidFill>
          <a:ln/>
        </p:spPr>
      </p:sp>
      <p:sp>
        <p:nvSpPr>
          <p:cNvPr id="15" name="Text 10"/>
          <p:cNvSpPr/>
          <p:nvPr/>
        </p:nvSpPr>
        <p:spPr>
          <a:xfrm>
            <a:off x="1714500" y="2838450"/>
            <a:ext cx="596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accessible public, healthcare, and educational services</a:t>
            </a:r>
            <a:endParaRPr lang="en-US" sz="1397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385705"/>
            <a:ext cx="6705600" cy="55764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466850" y="3616902"/>
            <a:ext cx="95250" cy="9525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8" name="Text 12"/>
          <p:cNvSpPr/>
          <p:nvPr/>
        </p:nvSpPr>
        <p:spPr>
          <a:xfrm>
            <a:off x="1714500" y="3531177"/>
            <a:ext cx="596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inclusive, real-time communication technology</a:t>
            </a:r>
            <a:endParaRPr lang="en-US" sz="1397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950" y="4171950"/>
            <a:ext cx="3848100" cy="571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05213" y="4362450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5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github.com/Gauravsingh0714</a:t>
            </a:r>
            <a:endParaRPr lang="en-US" sz="1135" dirty="0"/>
          </a:p>
        </p:txBody>
      </p:sp>
      <p:sp>
        <p:nvSpPr>
          <p:cNvPr id="21" name="Text 14"/>
          <p:cNvSpPr/>
          <p:nvPr/>
        </p:nvSpPr>
        <p:spPr>
          <a:xfrm>
            <a:off x="2871788" y="4895850"/>
            <a:ext cx="352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7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Python</a:t>
            </a:r>
            <a:endParaRPr lang="en-US" sz="757" dirty="0"/>
          </a:p>
        </p:txBody>
      </p:sp>
      <p:sp>
        <p:nvSpPr>
          <p:cNvPr id="22" name="Shape 15"/>
          <p:cNvSpPr/>
          <p:nvPr/>
        </p:nvSpPr>
        <p:spPr>
          <a:xfrm>
            <a:off x="3376613" y="4957763"/>
            <a:ext cx="28575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3557588" y="48958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9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OpenCV</a:t>
            </a:r>
            <a:endParaRPr lang="en-US" sz="819" dirty="0"/>
          </a:p>
        </p:txBody>
      </p:sp>
      <p:sp>
        <p:nvSpPr>
          <p:cNvPr id="24" name="Shape 17"/>
          <p:cNvSpPr/>
          <p:nvPr/>
        </p:nvSpPr>
        <p:spPr>
          <a:xfrm>
            <a:off x="4090987" y="4957763"/>
            <a:ext cx="28575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4271963" y="4895850"/>
            <a:ext cx="638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3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TensorFlow</a:t>
            </a:r>
            <a:endParaRPr lang="en-US" sz="823" dirty="0"/>
          </a:p>
        </p:txBody>
      </p:sp>
      <p:sp>
        <p:nvSpPr>
          <p:cNvPr id="26" name="Shape 19"/>
          <p:cNvSpPr/>
          <p:nvPr/>
        </p:nvSpPr>
        <p:spPr>
          <a:xfrm>
            <a:off x="5062538" y="4957763"/>
            <a:ext cx="28575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5243513" y="4895850"/>
            <a:ext cx="314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Keras</a:t>
            </a:r>
            <a:endParaRPr lang="en-US" sz="811" dirty="0"/>
          </a:p>
        </p:txBody>
      </p:sp>
      <p:sp>
        <p:nvSpPr>
          <p:cNvPr id="28" name="Shape 21"/>
          <p:cNvSpPr/>
          <p:nvPr/>
        </p:nvSpPr>
        <p:spPr>
          <a:xfrm>
            <a:off x="5710238" y="4957763"/>
            <a:ext cx="28575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5891213" y="48958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9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CVZone</a:t>
            </a:r>
            <a:endParaRPr lang="en-US" sz="819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86350"/>
            <a:ext cx="9144000" cy="5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2026-06-10T21:48:18Z</dcterms:created>
  <dcterms:modified xsi:type="dcterms:W3CDTF">2026-06-10T21:48:18Z</dcterms:modified>
</cp:coreProperties>
</file>